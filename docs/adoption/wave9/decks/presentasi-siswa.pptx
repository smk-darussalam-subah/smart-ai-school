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<?xml version='1.0' encoding='utf-8'?>
<Relationships xmlns="http://schemas.openxmlformats.org/package/2006/relationships"><Relationship Type="http://schemas.openxmlformats.org/officeDocument/2006/relationships/extended-properties" Target="/docProps/app.xml" Id="rId1" /><Relationship Type="http://schemas.openxmlformats.org/officeDocument/2006/relationships/officeDocument" Target="/ppt/presentation.xml" Id="rId2" /><Relationship Type="http://schemas.openxmlformats.org/package/2006/relationships/metadata/core-properties" Target="/docProps/core.xml" Id="rI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2"/>
  </p:sldMasterIdLst>
  <p:notesMasterIdLst>
    <p:notesMasterId xmlns:r="http://schemas.openxmlformats.org/officeDocument/2006/relationships" r:id="rId1"/>
  </p:notesMasterIdLst>
  <p:sldIdLst>
    <p:sldId xmlns:r="http://schemas.openxmlformats.org/officeDocument/2006/relationships" id="256" r:id="rId3"/>
    <p:sldId xmlns:r="http://schemas.openxmlformats.org/officeDocument/2006/relationships" id="257" r:id="rId4"/>
    <p:sldId xmlns:r="http://schemas.openxmlformats.org/officeDocument/2006/relationships" id="258" r:id="rId5"/>
    <p:sldId xmlns:r="http://schemas.openxmlformats.org/officeDocument/2006/relationships" id="259" r:id="rId6"/>
    <p:sldId xmlns:r="http://schemas.openxmlformats.org/officeDocument/2006/relationships" id="260" r:id="rId7"/>
    <p:sldId xmlns:r="http://schemas.openxmlformats.org/officeDocument/2006/relationships" id="261" r:id="rId8"/>
    <p:sldId xmlns:r="http://schemas.openxmlformats.org/officeDocument/2006/relationships" id="262" r:id="rId9"/>
    <p:sldId xmlns:r="http://schemas.openxmlformats.org/officeDocument/2006/relationships" id="263" r:id="rId10"/>
    <p:sldId xmlns:r="http://schemas.openxmlformats.org/officeDocument/2006/relationships" id="264" r:id="rId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presProps" Target="/ppt/presProps.xml" Id="rId2" /><Relationship Type="http://schemas.openxmlformats.org/officeDocument/2006/relationships/slide" Target="/ppt/slides/slide1.xml" Id="rId3" /><Relationship Type="http://schemas.openxmlformats.org/officeDocument/2006/relationships/slide" Target="/ppt/slides/slide2.xml" Id="rId4" /><Relationship Type="http://schemas.openxmlformats.org/officeDocument/2006/relationships/slide" Target="/ppt/slides/slide3.xml" Id="rId5" /><Relationship Type="http://schemas.openxmlformats.org/officeDocument/2006/relationships/slide" Target="/ppt/slides/slide4.xml" Id="rId6" /><Relationship Type="http://schemas.openxmlformats.org/officeDocument/2006/relationships/slide" Target="/ppt/slides/slide5.xml" Id="rId7" /><Relationship Type="http://schemas.openxmlformats.org/officeDocument/2006/relationships/slide" Target="/ppt/slides/slide6.xml" Id="rId8" /><Relationship Type="http://schemas.openxmlformats.org/officeDocument/2006/relationships/slide" Target="/ppt/slides/slide7.xml" Id="rId9" /><Relationship Type="http://schemas.openxmlformats.org/officeDocument/2006/relationships/slide" Target="/ppt/slides/slide8.xml" Id="rId10" /><Relationship Type="http://schemas.openxmlformats.org/officeDocument/2006/relationships/slide" Target="/ppt/slides/slide9.xml" Id="rId11" /><Relationship Type="http://schemas.openxmlformats.org/officeDocument/2006/relationships/slideMaster" Target="/ppt/slideMasters/slideMaster1.xml" Id="rId12" /><Relationship Type="http://schemas.openxmlformats.org/officeDocument/2006/relationships/tableStyles" Target="/ppt/tableStyles.xml" Id="rId13" /><Relationship Type="http://schemas.openxmlformats.org/officeDocument/2006/relationships/theme" Target="/ppt/theme/theme1.xml" Id="rId14" /></Relationships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I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1.xml" Id="rId2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2.xml" Id="rId2" /></Relationships>
</file>

<file path=ppt/notesSlides/_rels/notesSlide3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3.xml" Id="rId2" /></Relationships>
</file>

<file path=ppt/notesSlides/_rels/notesSlide4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4.xml" Id="rId2" /></Relationships>
</file>

<file path=ppt/notesSlides/_rels/notesSlide5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5.xml" Id="rId2" /></Relationships>
</file>

<file path=ppt/notesSlides/_rels/notesSlide6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6.xml" Id="rId2" /></Relationships>
</file>

<file path=ppt/notesSlides/_rels/notesSlide7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7.xml" Id="rId2" /></Relationships>
</file>

<file path=ppt/notesSlides/_rels/notesSlide8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8.xml" Id="rId2" /></Relationships>
</file>

<file path=ppt/notesSlides/_rels/notesSlide9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9.xml" Id="rI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Buka dengan pertanyaan sederhana: informasi sekolah apa yang paling sering sulit ditemukan atau ditelusuri? Deck ini menjelaskan bagaimana DIIS membantu Siswa.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apps/web/src/lib/help/help-evidence.ts</a:t>
            </a:r>
          </a:p>
          <a:p xmlns:a="http://schemas.openxmlformats.org/drawingml/2006/main">
            <a:r>
              <a:t>- docs/audits/PROMPT-ARCHITECT-WAVE9-ADOPTION-READINESS-DOCUMENTATION-FREEZE-V2-2026-08-26.md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Jelaskan bahwa DIIS bukan sekadar kumpulan menu. DIIS menyatukan alur kerja sekolah dan menjaga setiap pengguna tetap pada konteks yang sah.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apps/web/src/lib/help/help-evidence.ts</a:t>
            </a:r>
          </a:p>
          <a:p xmlns:a="http://schemas.openxmlformats.org/drawingml/2006/main">
            <a:r>
              <a:t>- docs/audits/PROMPT-ARCHITECT-WAVE9-ADOPTION-READINESS-DOCUMENTATION-FREEZE-V2-2026-08-26.md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Ajak audiens memilih satu masalah yang paling sering mereka alami. Hubungkan jawabannya dengan workflow yang akan ditunjukkan.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apps/web/src/lib/help/help-evidence.ts</a:t>
            </a:r>
          </a:p>
          <a:p xmlns:a="http://schemas.openxmlformats.org/drawingml/2006/main">
            <a:r>
              <a:t>- docs/audits/PROMPT-ARCHITECT-WAVE9-ADOPTION-READINESS-DOCUMENTATION-FREEZE-V2-2026-08-26.md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Tekankan bahwa DIIS memperjelas alur dan tanggung jawab, bukan menggantikan pertimbangan profesional guru atau pimpinan.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apps/web/src/lib/help/help-authority.ts</a:t>
            </a:r>
          </a:p>
          <a:p xmlns:a="http://schemas.openxmlformats.org/drawingml/2006/main">
            <a:r>
              <a:t>- apps/web/src/lib/help/help-projection.ts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Tidak perlu menjelaskan semua menu. Pilih dua fitur terdekat dengan pekerjaan audiens, lalu gunakan screenshot sampel sebagai bukti.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apps/web/src/lib/help/help-evidence.ts</a:t>
            </a:r>
          </a:p>
          <a:p xmlns:a="http://schemas.openxmlformats.org/drawingml/2006/main">
            <a:r>
              <a:t>- docs/audits/PROMPT-ARCHITECT-WAVE9-ADOPTION-READINESS-DOCUMENTATION-FREEZE-V2-2026-08-26.md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Beranda akademik menampilkan aktivitas yang sesuai dengan kelas dan periode siswa.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apps/web/src/app/dashboard/akademik/page.tsx</a:t>
            </a:r>
          </a:p>
          <a:p xmlns:a="http://schemas.openxmlformats.org/drawingml/2006/main">
            <a:r>
              <a:t>- apps/web/private/help-screenshots/shot-academic-mobile.png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Rapor siswa berasal dari snapshot semester yang sudah didistribusikan sekolah, bukan angka yang masih berubah.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apps/api/src/report-cards/report-cards.service.ts</a:t>
            </a:r>
          </a:p>
          <a:p xmlns:a="http://schemas.openxmlformats.org/drawingml/2006/main">
            <a:r>
              <a:t>- apps/web/private/help-screenshots/shot-report-student-mobile.png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glosarium hanya ketika istilah muncul dalam percakapan. Hindari jargon bila kata sehari-hari sudah cukup.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apps/web/src/lib/help/help-catalog.ts</a:t>
            </a:r>
          </a:p>
          <a:p xmlns:a="http://schemas.openxmlformats.org/drawingml/2006/main">
            <a:r>
              <a:t>- apps/web/src/lib/help/help-evidence.ts</a:t>
            </a:r>
          </a:p>
          <a:p xmlns:a="http://schemas.openxmlformats.org/drawingml/2006/main">
            <a:r>
              <a:t>- docs/audits/PROMPT-ARCHITECT-WAVE9-ADOPTION-READINESS-DOCUMENTATION-FREEZE-V2-2026-08-26.md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Tutup dengan ajakan mencoba satu workflow yang relevan. Jangan menyatakan Appointment automation production sudah operasional.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docs/audits/WAVE9-SHARED-AUTH-CONTROLLED-CUTOVER-INDEPENDENT-REVIEW-2026-08-28.md</a:t>
            </a:r>
          </a:p>
          <a:p xmlns:a="http://schemas.openxmlformats.org/drawingml/2006/main">
            <a:r>
              <a:t>- apps/web/src/lib/help/help-evidence.ts</a:t>
            </a:r>
          </a:p>
          <a:p xmlns:a="http://schemas.openxmlformats.org/drawingml/2006/main">
            <a:r>
              <a:t>- docs/audits/PROMPT-ARCHITECT-WAVE9-ADOPTION-READINESS-DOCUMENTATION-FREEZE-V2-2026-08-26.md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slideMasters/theme/theme2.xml" Id="rI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notesSlide" Target="/ppt/notesSlides/notesSlide1.xml" Id="rId1" /><Relationship Type="http://schemas.openxmlformats.org/officeDocument/2006/relationships/slideLayout" Target="/ppt/slideLayouts/slideLayout1.xml" Id="rId2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image" Target="/ppt/media/image.png" Id="rId1" /><Relationship Type="http://schemas.openxmlformats.org/officeDocument/2006/relationships/notesSlide" Target="/ppt/notesSlides/notesSlide2.xml" Id="rId2" /><Relationship Type="http://schemas.openxmlformats.org/officeDocument/2006/relationships/slideLayout" Target="/ppt/slideLayouts/slideLayout1.xml" Id="rId3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notesSlide" Target="/ppt/notesSlides/notesSlide3.xml" Id="rId1" /><Relationship Type="http://schemas.openxmlformats.org/officeDocument/2006/relationships/slideLayout" Target="/ppt/slideLayouts/slideLayout1.xml" Id="rId2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notesSlide" Target="/ppt/notesSlides/notesSlide4.xml" Id="rId1" /><Relationship Type="http://schemas.openxmlformats.org/officeDocument/2006/relationships/slideLayout" Target="/ppt/slideLayouts/slideLayout1.xml" Id="rId2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image" Target="/ppt/media/image2.png" Id="rId1" /><Relationship Type="http://schemas.openxmlformats.org/officeDocument/2006/relationships/notesSlide" Target="/ppt/notesSlides/notesSlide5.xml" Id="rId2" /><Relationship Type="http://schemas.openxmlformats.org/officeDocument/2006/relationships/slideLayout" Target="/ppt/slideLayouts/slideLayout1.xml" Id="rId3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image" Target="/ppt/media/image3.png" Id="rId1" /><Relationship Type="http://schemas.openxmlformats.org/officeDocument/2006/relationships/notesSlide" Target="/ppt/notesSlides/notesSlide6.xml" Id="rId2" /><Relationship Type="http://schemas.openxmlformats.org/officeDocument/2006/relationships/slideLayout" Target="/ppt/slideLayouts/slideLayout1.xml" Id="rId3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image" Target="/ppt/media/image4.png" Id="rId1" /><Relationship Type="http://schemas.openxmlformats.org/officeDocument/2006/relationships/notesSlide" Target="/ppt/notesSlides/notesSlide7.xml" Id="rId2" /><Relationship Type="http://schemas.openxmlformats.org/officeDocument/2006/relationships/slideLayout" Target="/ppt/slideLayouts/slideLayout1.xml" Id="rId3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notesSlide" Target="/ppt/notesSlides/notesSlide8.xml" Id="rId1" /><Relationship Type="http://schemas.openxmlformats.org/officeDocument/2006/relationships/slideLayout" Target="/ppt/slideLayouts/slideLayout1.xml" Id="rId2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notesSlide" Target="/ppt/notesSlides/notesSlide9.xml" Id="rId1" /><Relationship Type="http://schemas.openxmlformats.org/officeDocument/2006/relationships/slideLayout" Target="/ppt/slideLayouts/slideLayout1.xml" Id="rI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B28264-D171-56CD-AD90-1A3D71C9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B3D1A-C63B-5956-8945-297352D0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DE0C2"/>
                </a:solidFill>
              </a:defRPr>
            </a:pPr>
            <a:r>
              <a:rPr sz="1125" b="1">
                <a:solidFill>
                  <a:srgbClr val="8DE0C2"/>
                </a:solidFill>
              </a:rPr>
              <a:t>DIIS SMK DARUSSALAM SUBAH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8636E-47B5-54D4-A5C4-29C877FA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0287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DIIS untuk Siswa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62F26-EA63-5562-B926-8064855E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933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CAD6E4"/>
                </a:solidFill>
              </a:defRPr>
            </a:pPr>
            <a:r>
              <a:rPr sz="1800">
                <a:solidFill>
                  <a:srgbClr val="CAD6E4"/>
                </a:solidFill>
              </a:rPr>
              <a:t>Membantu siswa memahami tugas, asesmen, remedial, dan hasil belajar resmi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A7D5D-A4DD-5D92-BD1A-F697B924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4572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73049"/>
          </a:solidFill>
          <a:ln xmlns:a="http://schemas.openxmlformats.org/drawingml/2006/main" w="9525">
            <a:solidFill>
              <a:srgbClr val="25496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CAEFD-CB2C-5E4D-918E-E98BB029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720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Untuk Siswa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A7DC9-D60D-5F48-BBD2-86379063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816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3A5B8"/>
                </a:solidFill>
              </a:defRPr>
            </a:pPr>
            <a:r>
              <a:rPr sz="1125">
                <a:solidFill>
                  <a:srgbClr val="93A5B8"/>
                </a:solidFill>
              </a:rPr>
              <a:t>Presentasi pengenalan dan panduan adopsi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52F1B-ABC4-500C-B96D-B3C36BEB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Siswa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A12CE-FF97-556E-8A6A-A5844DE2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974880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DA1BE-3421-5827-BEC7-40F424E7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8A68"/>
                </a:solidFill>
              </a:defRPr>
            </a:pPr>
            <a:r>
              <a:rPr sz="975" b="1">
                <a:solidFill>
                  <a:srgbClr val="0F8A68"/>
                </a:solidFill>
              </a:rPr>
              <a:t>MENGENAL DIIS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7EA85-F6E0-5D42-8D95-4E80643D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111F"/>
                </a:solidFill>
              </a:defRPr>
            </a:pPr>
            <a:r>
              <a:rPr sz="2850" b="1">
                <a:solidFill>
                  <a:srgbClr val="08111F"/>
                </a:solidFill>
              </a:rPr>
              <a:t>Apa itu DIIS?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4A26F-C8C0-52AD-BFB0-6C19ED59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524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235"/>
                </a:solidFill>
              </a:defRPr>
            </a:pPr>
            <a:r>
              <a:rPr sz="1725">
                <a:solidFill>
                  <a:srgbClr val="172235"/>
                </a:solidFill>
              </a:rPr>
              <a:t>DIIS adalah tempat siswa melihat kegiatan belajar yang menjadi miliknya: jadwal, modul, tugas, asesmen, remedial, pengumuman, dan Rapor resmi.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533B5-72AB-5ACE-A517-244985A6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9FD7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524BE-C26C-5371-B472-EA5665DA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6647"/>
                </a:solidFill>
              </a:defRPr>
            </a:pPr>
            <a:r>
              <a:rPr sz="1125" b="1">
                <a:solidFill>
                  <a:srgbClr val="086647"/>
                </a:solidFill>
              </a:rPr>
              <a:t>Artinya bagi Anda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64695-A019-5ECE-9223-27670B8C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4267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5E4A"/>
                </a:solidFill>
              </a:defRPr>
            </a:pPr>
            <a:r>
              <a:rPr sz="1275">
                <a:solidFill>
                  <a:srgbClr val="245E4A"/>
                </a:solidFill>
              </a:rPr>
              <a:t>Siswa tidak perlu mencari informasi di banyak tempat. DIIS membantu menunjukkan apa yang perlu dikerjakan, kapan tenggatnya, dan bagaimana statusnya.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45539-85A9-5E2D-A9A1-1EA2D1A6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876300"/>
            <a:ext cx="561975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14233C"/>
          </a:solidFill>
          <a:ln xmlns:a="http://schemas.openxmlformats.org/drawingml/2006/main" w="9525">
            <a:solidFill>
              <a:srgbClr val="14233C"/>
            </a:solidFill>
            <a:prstDash val="solid"/>
          </a:ln>
        </p:spPr>
      </p:sp>
      <p:pic>
        <p:nvPicPr>
          <p:cNvPr id="19" name="Gambar informatif" title="Gambar informatif" descr="Ilustrasi ekosistem sekolah Indonesia yang terhubung melalui DIIS dengan akses sesuai tanggung jawab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1"/>
          <a:srcRect xmlns:a="http://schemas.openxmlformats.org/drawingml/2006/main" l="16539" t="0" r="165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1700" y="990600"/>
            <a:ext cx="5391150" cy="4533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C0C7E-0F87-5866-9427-1F770753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102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97A"/>
                </a:solidFill>
              </a:defRPr>
            </a:pPr>
            <a:r>
              <a:rPr sz="1050">
                <a:solidFill>
                  <a:srgbClr val="5C697A"/>
                </a:solidFill>
              </a:rPr>
              <a:t>Satu sumber kerja bersama, dengan akses sesuai tanggung jawab.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82F981-C6BE-5BB1-815D-846355E3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Siswa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0631E-AC56-5BF0-A5B7-BB1CB1D8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074270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C76BFD-E611-57B8-96B9-537FEB08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8A68"/>
                </a:solidFill>
              </a:defRPr>
            </a:pPr>
            <a:r>
              <a:rPr sz="975" b="1">
                <a:solidFill>
                  <a:srgbClr val="0F8A68"/>
                </a:solidFill>
              </a:rPr>
              <a:t>MENGAPA DIIS DIBUAT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B5C0D-2511-5E2F-AFA2-A0C3D693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111F"/>
                </a:solidFill>
              </a:defRPr>
            </a:pPr>
            <a:r>
              <a:rPr sz="2700" b="1">
                <a:solidFill>
                  <a:srgbClr val="08111F"/>
                </a:solidFill>
              </a:rPr>
              <a:t>Masalah yang ingin diselesaikan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13AC9-C13E-52A9-A046-5AE4A9E3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C697A"/>
                </a:solidFill>
              </a:defRPr>
            </a:pPr>
            <a:r>
              <a:rPr sz="1425">
                <a:solidFill>
                  <a:srgbClr val="5C697A"/>
                </a:solidFill>
              </a:rPr>
              <a:t>Masalahnya bukan kekurangan data, melainkan data yang tersebar, sulit ditelusuri, dan tidak selalu berada pada konteks yang tepat.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50E09-2705-5116-B474-2BA2818C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0482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CECE8"/>
          </a:solidFill>
          <a:ln xmlns:a="http://schemas.openxmlformats.org/drawingml/2006/main" w="9525">
            <a:solidFill>
              <a:srgbClr val="E368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18EF5-037B-57EF-B2BB-2388CE24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95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84B"/>
          </a:solidFill>
          <a:ln xmlns:a="http://schemas.openxmlformats.org/drawingml/2006/main" w="9525">
            <a:solidFill>
              <a:srgbClr val="E368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EB26B-A0A9-5F33-BFCC-F78BDEFA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235"/>
                </a:solidFill>
              </a:defRPr>
            </a:pPr>
            <a:r>
              <a:rPr sz="1650" b="1">
                <a:solidFill>
                  <a:srgbClr val="172235"/>
                </a:solidFill>
              </a:rPr>
              <a:t>Tugas mudah terlewat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0F36A-442B-53F9-8175-04B9ADD8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433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97A"/>
                </a:solidFill>
              </a:defRPr>
            </a:pPr>
            <a:r>
              <a:rPr sz="1275">
                <a:solidFill>
                  <a:srgbClr val="5C697A"/>
                </a:solidFill>
              </a:rPr>
              <a:t>Informasi belajar bisa tersebar di banyak grup dan pesan.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3316D-C42F-53E2-BC96-21958FCD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50482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EC630A-444C-5577-B149-CEABBBC3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95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ABE7C0-8B9D-5E81-BE94-54E7D93E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235"/>
                </a:solidFill>
              </a:defRPr>
            </a:pPr>
            <a:r>
              <a:rPr sz="1650" b="1">
                <a:solidFill>
                  <a:srgbClr val="172235"/>
                </a:solidFill>
              </a:rPr>
              <a:t>Tenggat tidak jelas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977D81-86D5-52F8-ADF8-B1687DC7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62250"/>
            <a:ext cx="433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97A"/>
                </a:solidFill>
              </a:defRPr>
            </a:pPr>
            <a:r>
              <a:rPr sz="1275">
                <a:solidFill>
                  <a:srgbClr val="5C697A"/>
                </a:solidFill>
              </a:rPr>
              <a:t>Siswa perlu melihat pekerjaan aktif dan waktunya dengan cepat.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5DFB08-AA96-5D90-B0D5-7664E42D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50482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B6C0F-D723-5DBA-BFF6-63DC1E88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95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BE1292-2A36-5927-AE94-65323F56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955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235"/>
                </a:solidFill>
              </a:defRPr>
            </a:pPr>
            <a:r>
              <a:rPr sz="1650" b="1">
                <a:solidFill>
                  <a:srgbClr val="172235"/>
                </a:solidFill>
              </a:rPr>
              <a:t>Hasil membingungkan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46E4A-0F8D-510F-BB82-C25A6D0B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57700"/>
            <a:ext cx="433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97A"/>
                </a:solidFill>
              </a:defRPr>
            </a:pPr>
            <a:r>
              <a:rPr sz="1275">
                <a:solidFill>
                  <a:srgbClr val="5C697A"/>
                </a:solidFill>
              </a:rPr>
              <a:t>Nilai berjalan berbeda dari Rapor resmi yang sudah didistribusikan.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F4FBA8-A618-5D78-887C-FF6FDEEA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50482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3F4960-8023-5928-8D1E-041B9449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95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5E5EAF-AFB5-53E7-9E0D-95A1896D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1955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235"/>
                </a:solidFill>
              </a:defRPr>
            </a:pPr>
            <a:r>
              <a:rPr sz="1650" b="1">
                <a:solidFill>
                  <a:srgbClr val="172235"/>
                </a:solidFill>
              </a:rPr>
              <a:t>Akun tidak aman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BE6A86-6F3C-5DD3-AF57-B74ED00C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57700"/>
            <a:ext cx="433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97A"/>
                </a:solidFill>
              </a:defRPr>
            </a:pPr>
            <a:r>
              <a:rPr sz="1275">
                <a:solidFill>
                  <a:srgbClr val="5C697A"/>
                </a:solidFill>
              </a:rPr>
              <a:t>Setiap siswa harus menggunakan sesi miliknya sendiri.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9AA57A-B337-5C98-AA73-51078406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Siswa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8CE395-2594-5841-A729-26624416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157718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075CC6-1FCD-5FBA-8520-FEDB0918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Tujuan DIIS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C4863-A8BB-5D59-8ABD-D27B6B47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9540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5E0EA"/>
                </a:solidFill>
              </a:defRPr>
            </a:pPr>
            <a:r>
              <a:rPr sz="1875">
                <a:solidFill>
                  <a:srgbClr val="D5E0EA"/>
                </a:solidFill>
              </a:rPr>
              <a:t>Membantu siswa belajar lebih mandiri, memahami langkah berikutnya, dan membaca hasil resmi tanpa membuka data siswa lain.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8F900-1EF9-57E5-B7CE-FC690E34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DE0C2"/>
                </a:solidFill>
              </a:defRPr>
            </a:pPr>
            <a:r>
              <a:rPr sz="1275" b="1">
                <a:solidFill>
                  <a:srgbClr val="8DE0C2"/>
                </a:solidFill>
              </a:rPr>
              <a:t>Alur yang sederhana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CD626-02B5-509C-86EC-A57CB60C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266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243B"/>
          </a:solidFill>
          <a:ln xmlns:a="http://schemas.openxmlformats.org/drawingml/2006/main" w="9525">
            <a:solidFill>
              <a:srgbClr val="35506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21275-0D57-50E5-940F-F351632E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5C2D8-CFA2-5BB8-AD8B-E4F3F9D5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956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6C011-C982-5BBD-B27E-07A6ED5F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Lihat kegiatan hari ini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70B7C-363F-5062-8C8D-C3945DD2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0522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C91AA"/>
                </a:solidFill>
              </a:defRPr>
            </a:pPr>
            <a:r>
              <a:rPr sz="2250" b="1">
                <a:solidFill>
                  <a:srgbClr val="7C91A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A2B57-E0CC-5E35-8176-31B1D040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38500"/>
            <a:ext cx="2266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243B"/>
          </a:solidFill>
          <a:ln xmlns:a="http://schemas.openxmlformats.org/drawingml/2006/main" w="9525">
            <a:solidFill>
              <a:srgbClr val="3550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D86D3C-4B12-5812-B17C-F1717B94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290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5272C-3B7D-5E88-9F4D-2F7E22F0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956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77C804-92DA-5C15-BF84-B1E542EE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814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Kerjakan tugas atau asesmen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99AA01-B4D6-52A0-969A-EB62F432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0522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C91AA"/>
                </a:solidFill>
              </a:defRPr>
            </a:pPr>
            <a:r>
              <a:rPr sz="2250" b="1">
                <a:solidFill>
                  <a:srgbClr val="7C91A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CA835C-9F20-588F-ACA0-540ED8A2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38500"/>
            <a:ext cx="2266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243B"/>
          </a:solidFill>
          <a:ln xmlns:a="http://schemas.openxmlformats.org/drawingml/2006/main" w="9525">
            <a:solidFill>
              <a:srgbClr val="3550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57706C-6529-5FFD-9166-0A9B4198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290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8F1A2-9647-5983-8B6B-99EB6CA1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956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7AD4E6-62E9-5115-8C93-752BB0A1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814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Periksa remedial bila 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099F58-7413-5115-A731-0FE23C22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0522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C91AA"/>
                </a:solidFill>
              </a:defRPr>
            </a:pPr>
            <a:r>
              <a:rPr sz="2250" b="1">
                <a:solidFill>
                  <a:srgbClr val="7C91AA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8372A-BE0A-58B6-BA73-38EA4B4B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0"/>
            <a:ext cx="2266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243B"/>
          </a:solidFill>
          <a:ln xmlns:a="http://schemas.openxmlformats.org/drawingml/2006/main" w="9525">
            <a:solidFill>
              <a:srgbClr val="35506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DD644A-4D81-53B2-A9BC-04F45C4B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290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796529-3890-5D2A-80CC-C3F89FF8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956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26A555-DFFC-53DC-AC05-3ACF0570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814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Baca hasil resmi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5B0F5F-A046-572A-9294-448E2063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6299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82940"/>
          </a:solidFill>
          <a:ln xmlns:a="http://schemas.openxmlformats.org/drawingml/2006/main" w="9525">
            <a:solidFill>
              <a:srgbClr val="3851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E32061-FFC8-5A69-80C1-275C4131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4F7FA"/>
                </a:solidFill>
              </a:defRPr>
            </a:pPr>
            <a:r>
              <a:rPr sz="1350">
                <a:solidFill>
                  <a:srgbClr val="F4F7FA"/>
                </a:solidFill>
              </a:rPr>
              <a:t>DIIS membantu pekerjaan lebih terlihat dan teratur. Keputusan tetap berada pada petugas yang berwenang.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BC1F85-BAB3-5D11-94F6-AFCC3E73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Siswa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A55798-A602-54A4-A486-B17D0596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453747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AB8190-0977-5D5A-BDD0-C42040D5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8A68"/>
                </a:solidFill>
              </a:defRPr>
            </a:pPr>
            <a:r>
              <a:rPr sz="975" b="1">
                <a:solidFill>
                  <a:srgbClr val="0F8A68"/>
                </a:solidFill>
              </a:rPr>
              <a:t>FITUR UTAMA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C9116-5E84-546A-8FB9-535B6CDA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111F"/>
                </a:solidFill>
              </a:defRPr>
            </a:pPr>
            <a:r>
              <a:rPr sz="2700" b="1">
                <a:solidFill>
                  <a:srgbClr val="08111F"/>
                </a:solidFill>
              </a:rPr>
              <a:t>Apa saja yang tersedia?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FBD13-9F6F-5B8B-806E-8B2D9144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97A"/>
                </a:solidFill>
              </a:defRPr>
            </a:pPr>
            <a:r>
              <a:rPr sz="1350">
                <a:solidFill>
                  <a:srgbClr val="5C697A"/>
                </a:solidFill>
              </a:rPr>
              <a:t>Fitur DIIS saling terhubung, tetapi tampilan dan tindakannya tetap mengikuti peran masing-masing.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280F4-DB17-5A41-9983-7DC421D7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581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1BFF3-0B6B-5511-A2D9-ABA758EB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57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1687B-AE53-5341-8C5F-F1FD4E27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235"/>
                </a:solidFill>
              </a:defRPr>
            </a:pPr>
            <a:r>
              <a:rPr sz="1425" b="1">
                <a:solidFill>
                  <a:srgbClr val="172235"/>
                </a:solidFill>
              </a:rPr>
              <a:t>Beranda Akademik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9FCC6-CE0D-52F1-9171-54A864BD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519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97A"/>
                </a:solidFill>
              </a:defRPr>
            </a:pPr>
            <a:r>
              <a:rPr sz="1050">
                <a:solidFill>
                  <a:srgbClr val="5C697A"/>
                </a:solidFill>
              </a:rPr>
              <a:t>Ringkasan kegiatan dan status yang relevan bagi siswa.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55513-1DE6-5D64-AF15-9A704DBD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581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641084-50C3-51FC-A385-FEF49C1A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857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A025A8-7F7E-5E9C-AC62-B5D7CB1A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235"/>
                </a:solidFill>
              </a:defRPr>
            </a:pPr>
            <a:r>
              <a:rPr sz="1425" b="1">
                <a:solidFill>
                  <a:srgbClr val="172235"/>
                </a:solidFill>
              </a:rPr>
              <a:t>Modul dan Tugas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26BB6-62A5-5B8F-9A34-6801B2ED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519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97A"/>
                </a:solidFill>
              </a:defRPr>
            </a:pPr>
            <a:r>
              <a:rPr sz="1050">
                <a:solidFill>
                  <a:srgbClr val="5C697A"/>
                </a:solidFill>
              </a:rPr>
              <a:t>Materi belajar serta pekerjaan yang mengikuti kelas siswa.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8C5499-4855-5277-8F0C-DC89815B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581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8D743B-5E2A-55C7-A592-E8D3E5AB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857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297F53-61B9-5351-BE5E-FE2F818B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235"/>
                </a:solidFill>
              </a:defRPr>
            </a:pPr>
            <a:r>
              <a:rPr sz="1425" b="1">
                <a:solidFill>
                  <a:srgbClr val="172235"/>
                </a:solidFill>
              </a:rPr>
              <a:t>Asesmen dan Remedial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1DAE6-866F-52C0-8C26-FA6D2E6C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519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97A"/>
                </a:solidFill>
              </a:defRPr>
            </a:pPr>
            <a:r>
              <a:rPr sz="1050">
                <a:solidFill>
                  <a:srgbClr val="5C697A"/>
                </a:solidFill>
              </a:rPr>
              <a:t>Sesi resmi, jawaban, tenggat, dan status tindak lanjut.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76F908-9242-5FD1-9CDA-EB764C5C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581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D3D212-3A7D-59D6-B718-7B1F6C19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857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9F924-A9ED-55E8-95FE-69DA6129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235"/>
                </a:solidFill>
              </a:defRPr>
            </a:pPr>
            <a:r>
              <a:rPr sz="1425" b="1">
                <a:solidFill>
                  <a:srgbClr val="172235"/>
                </a:solidFill>
              </a:rPr>
              <a:t>Rapor Resmi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4DCF7B-A2AA-543A-B7CE-E3FCA53A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95900"/>
            <a:ext cx="519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97A"/>
                </a:solidFill>
              </a:defRPr>
            </a:pPr>
            <a:r>
              <a:rPr sz="1050">
                <a:solidFill>
                  <a:srgbClr val="5C697A"/>
                </a:solidFill>
              </a:rPr>
              <a:t>Snapshot semester yang sudah ditinjau dan dibagikan sekolah.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1BF920-8CE8-5B05-A2C2-B29487FC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09750"/>
            <a:ext cx="455295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14233C"/>
          </a:solidFill>
          <a:ln xmlns:a="http://schemas.openxmlformats.org/drawingml/2006/main" w="9525">
            <a:solidFill>
              <a:srgbClr val="14233C"/>
            </a:solidFill>
            <a:prstDash val="solid"/>
          </a:ln>
        </p:spPr>
      </p:sp>
      <p:pic>
        <p:nvPicPr>
          <p:cNvPr id="44" name="Gambar informatif" title="Gambar informatif" descr="Siswa menggunakan perangkat belajar untuk mengikuti modul, asesmen, remedial, dan hasil belajar secara terarah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1"/>
          <a:srcRect xmlns:a="http://schemas.openxmlformats.org/drawingml/2006/main" l="18061" t="0" r="180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1924050"/>
            <a:ext cx="4324350" cy="38100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8EDCCA-DE90-501B-82B5-AEC1BFA4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Siswa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E33D25-0736-5293-8FF8-A4775FFE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488062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0EA585-E348-5B3B-9DC5-03F06FC1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8C5CE-445B-5FB9-BF55-9733B741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8A68"/>
                </a:solidFill>
              </a:defRPr>
            </a:pPr>
            <a:r>
              <a:rPr sz="975" b="1">
                <a:solidFill>
                  <a:srgbClr val="0F8A68"/>
                </a:solidFill>
              </a:rPr>
              <a:t>SAMPEL TAMPILAN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8740D-4DB5-53B3-8F1C-CCEB22FF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8111F"/>
                </a:solidFill>
              </a:defRPr>
            </a:pPr>
            <a:r>
              <a:rPr sz="2475" b="1">
                <a:solidFill>
                  <a:srgbClr val="08111F"/>
                </a:solidFill>
              </a:rPr>
              <a:t>Mulai dari kegiatan yang perlu dikerjakan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236EA-16EB-508B-BE5C-56681940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C697A"/>
                </a:solidFill>
              </a:defRPr>
            </a:pPr>
            <a:r>
              <a:rPr sz="1500">
                <a:solidFill>
                  <a:srgbClr val="5C697A"/>
                </a:solidFill>
              </a:rPr>
              <a:t>Beranda akademik menampilkan aktivitas yang sesuai dengan kelas dan periode siswa.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9A072-5DA6-58E5-806F-53834DF0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718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17538-0DE3-55D0-B91E-15A2B6E9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235"/>
                </a:solidFill>
              </a:defRPr>
            </a:pPr>
            <a:r>
              <a:rPr sz="1350" b="1">
                <a:solidFill>
                  <a:srgbClr val="172235"/>
                </a:solidFill>
              </a:rPr>
              <a:t>Periksa nama kelas dan periode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828E7-5C43-54A5-9555-E91D3AF0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D9A53-85B6-5F6C-A489-305E6F51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235"/>
                </a:solidFill>
              </a:defRPr>
            </a:pPr>
            <a:r>
              <a:rPr sz="1350" b="1">
                <a:solidFill>
                  <a:srgbClr val="172235"/>
                </a:solidFill>
              </a:rPr>
              <a:t>Gunakan akun sendiri dan jangan membagikan kata sandi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06E58-6438-562F-B91B-C9EDBF37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4667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9DD8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184D9-173F-58B0-BCE7-B73F51DF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96747"/>
                </a:solidFill>
              </a:defRPr>
            </a:pPr>
            <a:r>
              <a:rPr sz="1125" b="1">
                <a:solidFill>
                  <a:srgbClr val="096747"/>
                </a:solidFill>
              </a:rPr>
              <a:t>Screenshot adalah pelengkap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A3AFC6-16B1-59A3-8AFC-6CF12EF7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5E4A"/>
                </a:solidFill>
              </a:defRPr>
            </a:pPr>
            <a:r>
              <a:rPr sz="1050">
                <a:solidFill>
                  <a:srgbClr val="245E4A"/>
                </a:solidFill>
              </a:rPr>
              <a:t>Gunakan untuk menunjukkan alur, bukan untuk memenuhi slide dengan detail kecil.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8BC09-6613-5D44-8A0D-43049320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838200"/>
            <a:ext cx="3086100" cy="51625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14233C"/>
          </a:solidFill>
          <a:ln xmlns:a="http://schemas.openxmlformats.org/drawingml/2006/main" w="9525">
            <a:solidFill>
              <a:srgbClr val="14233C"/>
            </a:solidFill>
            <a:prstDash val="solid"/>
          </a:ln>
        </p:spPr>
      </p:sp>
      <p:pic>
        <p:nvPicPr>
          <p:cNvPr id="29" name="Gambar informatif" title="Gambar informatif" descr="Beranda Akademik siswa menampilkan kegiatan yang perlu dikerjakan pada tampilan seluler dengan data sinteti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1"/>
          <a:stretch xmlns:a="http://schemas.openxmlformats.org/drawingml/2006/main"/>
        </p:blipFill>
        <p:spPr>
          <a:xfrm xmlns:a="http://schemas.openxmlformats.org/drawingml/2006/main">
            <a:off x="7488253" y="990600"/>
            <a:ext cx="2244695" cy="4857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A86B66-48B3-59ED-8FC5-5E1AE6FF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0198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97A"/>
                </a:solidFill>
              </a:defRPr>
            </a:pPr>
            <a:r>
              <a:rPr sz="900">
                <a:solidFill>
                  <a:srgbClr val="5C697A"/>
                </a:solidFill>
              </a:rPr>
              <a:t>Tampilan aktual dari aplikasi frozen, menggunakan data sintetis.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D840D0-F6E9-5820-8B94-B4FDB74C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Siswa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67E58-9A51-5D7A-B997-8CF0608D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660320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6BEC33-26EB-5651-87A5-4C875BBC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C1DA66-4ABC-5D48-A89D-FA512902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8A68"/>
                </a:solidFill>
              </a:defRPr>
            </a:pPr>
            <a:r>
              <a:rPr sz="975" b="1">
                <a:solidFill>
                  <a:srgbClr val="0F8A68"/>
                </a:solidFill>
              </a:rPr>
              <a:t>SAMPEL TAMPILAN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0266E-9CB9-523C-8EF1-FD67B1D5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8111F"/>
                </a:solidFill>
              </a:defRPr>
            </a:pPr>
            <a:r>
              <a:rPr sz="2475" b="1">
                <a:solidFill>
                  <a:srgbClr val="08111F"/>
                </a:solidFill>
              </a:rPr>
              <a:t>Rapor resmi tetap mudah dibaca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58669-F187-56C3-AEA6-B26944EC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C697A"/>
                </a:solidFill>
              </a:defRPr>
            </a:pPr>
            <a:r>
              <a:rPr sz="1500">
                <a:solidFill>
                  <a:srgbClr val="5C697A"/>
                </a:solidFill>
              </a:rPr>
              <a:t>Rapor siswa berasal dari snapshot semester yang sudah didistribusikan sekolah, bukan angka yang masih berubah.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8DA05-94AB-5BE1-8047-4835A6FA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718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DB556-F11C-586A-BB64-FFA2101D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235"/>
                </a:solidFill>
              </a:defRPr>
            </a:pPr>
            <a:r>
              <a:rPr sz="1350" b="1">
                <a:solidFill>
                  <a:srgbClr val="172235"/>
                </a:solidFill>
              </a:rPr>
              <a:t>Pilih semester yang benar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447EE-8B99-5320-A897-AB98096C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0E6AF-E09A-5B4F-A085-E26597AD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235"/>
                </a:solidFill>
              </a:defRPr>
            </a:pPr>
            <a:r>
              <a:rPr sz="1350" b="1">
                <a:solidFill>
                  <a:srgbClr val="172235"/>
                </a:solidFill>
              </a:rPr>
              <a:t>Laporkan perbedaan melalui guru atau kanal bantuan sekolah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11C38C-1FB8-58EE-8E20-E04EBCD2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4667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9DD8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133E2-9073-581D-B594-E97C2E16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96747"/>
                </a:solidFill>
              </a:defRPr>
            </a:pPr>
            <a:r>
              <a:rPr sz="1125" b="1">
                <a:solidFill>
                  <a:srgbClr val="096747"/>
                </a:solidFill>
              </a:rPr>
              <a:t>Screenshot adalah pelengkap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2099E-5614-522C-B34A-E358D4D6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5E4A"/>
                </a:solidFill>
              </a:defRPr>
            </a:pPr>
            <a:r>
              <a:rPr sz="1050">
                <a:solidFill>
                  <a:srgbClr val="245E4A"/>
                </a:solidFill>
              </a:rPr>
              <a:t>Gunakan untuk menunjukkan alur, bukan untuk memenuhi slide dengan detail kecil.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EF7F1-8FE0-5C4A-9DB0-7BFD4E88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838200"/>
            <a:ext cx="3086100" cy="51625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14233C"/>
          </a:solidFill>
          <a:ln xmlns:a="http://schemas.openxmlformats.org/drawingml/2006/main" w="9525">
            <a:solidFill>
              <a:srgbClr val="14233C"/>
            </a:solidFill>
            <a:prstDash val="solid"/>
          </a:ln>
        </p:spPr>
      </p:sp>
      <p:pic>
        <p:nvPicPr>
          <p:cNvPr id="29" name="Gambar informatif" title="Gambar informatif" descr="Halaman Rapor siswa menampilkan snapshot semester resmi pada tampilan seluler dengan data sinteti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1"/>
          <a:stretch xmlns:a="http://schemas.openxmlformats.org/drawingml/2006/main"/>
        </p:blipFill>
        <p:spPr>
          <a:xfrm xmlns:a="http://schemas.openxmlformats.org/drawingml/2006/main">
            <a:off x="7488253" y="990600"/>
            <a:ext cx="2244695" cy="4857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0D0631-E9C9-5A9F-865F-41523869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0198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97A"/>
                </a:solidFill>
              </a:defRPr>
            </a:pPr>
            <a:r>
              <a:rPr sz="900">
                <a:solidFill>
                  <a:srgbClr val="5C697A"/>
                </a:solidFill>
              </a:rPr>
              <a:t>Tampilan aktual dari aplikasi frozen, menggunakan data sintetis.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0D836-6031-5810-983A-323406D3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Siswa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009E4E-94FF-5E34-9D2C-EFDBBDA3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883133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87DDB3-13A0-5109-8A67-993CA122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8A68"/>
                </a:solidFill>
              </a:defRPr>
            </a:pPr>
            <a:r>
              <a:rPr sz="975" b="1">
                <a:solidFill>
                  <a:srgbClr val="0F8A68"/>
                </a:solidFill>
              </a:rPr>
              <a:t>ISTILAH YANG SERING MUNCUL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EB3EB-5207-5BC4-80F5-16F42D2B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647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111F"/>
                </a:solidFill>
              </a:defRPr>
            </a:pPr>
            <a:r>
              <a:rPr sz="2700" b="1">
                <a:solidFill>
                  <a:srgbClr val="08111F"/>
                </a:solidFill>
              </a:rPr>
              <a:t>Bahasa sederhananya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9BCAF-F520-53D6-A46F-FCAC4988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97A"/>
                </a:solidFill>
              </a:defRPr>
            </a:pPr>
            <a:r>
              <a:rPr sz="1350">
                <a:solidFill>
                  <a:srgbClr val="5C697A"/>
                </a:solidFill>
              </a:rPr>
              <a:t>Istilah ini membantu menjelaskan cara DIIS menjaga informasi dan alur kerja tetap tertib.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087AD-65E8-5C5B-B5A1-ADA13186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E4401-DA46-5369-A2E4-88B9B268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6647"/>
                </a:solidFill>
              </a:defRPr>
            </a:pPr>
            <a:r>
              <a:rPr sz="1425" b="1">
                <a:solidFill>
                  <a:srgbClr val="086647"/>
                </a:solidFill>
              </a:rPr>
              <a:t>Authority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81E98-0FE3-55DF-8519-DFCC80C6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5"/>
                </a:solidFill>
              </a:defRPr>
            </a:pPr>
            <a:r>
              <a:rPr sz="1125">
                <a:solidFill>
                  <a:srgbClr val="172235"/>
                </a:solidFill>
              </a:rPr>
              <a:t>Batas akses dan tindakan sesuai tanggung jawab pengguna.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0E523E-BA28-55DF-AEB6-08607905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2189F-3F65-5656-8EB7-888E05D0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02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4A9C"/>
                </a:solidFill>
              </a:defRPr>
            </a:pPr>
            <a:r>
              <a:rPr sz="1425" b="1">
                <a:solidFill>
                  <a:srgbClr val="174A9C"/>
                </a:solidFill>
              </a:rPr>
              <a:t>Appointment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385EA-B521-5491-99E3-FEA240A1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1460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5"/>
                </a:solidFill>
              </a:defRPr>
            </a:pPr>
            <a:r>
              <a:rPr sz="1125">
                <a:solidFill>
                  <a:srgbClr val="172235"/>
                </a:solidFill>
              </a:rPr>
              <a:t>Jabatan dengan masa tugas aktif, misalnya Kepala Sekolah atau WAKA.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D4FFC1-0260-5324-A5E4-186A956E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35ADB-1625-5C79-9E9C-1B0AA779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04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6647"/>
                </a:solidFill>
              </a:defRPr>
            </a:pPr>
            <a:r>
              <a:rPr sz="1425" b="1">
                <a:solidFill>
                  <a:srgbClr val="086647"/>
                </a:solidFill>
              </a:rPr>
              <a:t>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23EA65-BBCD-55DC-9855-F7BC6AFF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5"/>
                </a:solidFill>
              </a:defRPr>
            </a:pPr>
            <a:r>
              <a:rPr sz="1125">
                <a:solidFill>
                  <a:srgbClr val="172235"/>
                </a:solidFill>
              </a:rPr>
              <a:t>Urutan kerja dari mulai, ditinjau, sampai selesai.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2F62FD-7A2A-5204-BD8E-A087D90B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5755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0F7B2-09FE-57BC-B966-7D4A6F21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004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4A9C"/>
                </a:solidFill>
              </a:defRPr>
            </a:pPr>
            <a:r>
              <a:rPr sz="1425" b="1">
                <a:solidFill>
                  <a:srgbClr val="174A9C"/>
                </a:solidFill>
              </a:rPr>
              <a:t>Snapshot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0D86D-5D4D-506A-8944-B8531CBE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5"/>
                </a:solidFill>
              </a:defRPr>
            </a:pPr>
            <a:r>
              <a:rPr sz="1125">
                <a:solidFill>
                  <a:srgbClr val="172235"/>
                </a:solidFill>
              </a:rPr>
              <a:t>Salinan resmi data pada satu waktu yang tidak ikut berubah.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3F9117-6BB4-5CE9-BCDD-7384638D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D40F7-3972-5A46-B481-DD3E35B7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00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6647"/>
                </a:solidFill>
              </a:defRPr>
            </a:pPr>
            <a:r>
              <a:rPr sz="1425" b="1">
                <a:solidFill>
                  <a:srgbClr val="086647"/>
                </a:solidFill>
              </a:rPr>
              <a:t>Data pribadi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3B8D4C-4159-506E-BEE8-361E4F98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5"/>
                </a:solidFill>
              </a:defRPr>
            </a:pPr>
            <a:r>
              <a:rPr sz="1125">
                <a:solidFill>
                  <a:srgbClr val="172235"/>
                </a:solidFill>
              </a:rPr>
              <a:t>Informasi seseorang yang harus dijaga dan tidak dibagikan sembarangan.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C36DB6-5A8C-5720-9648-7312ABFA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5770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5342BA-8682-52D7-89B1-1B88F1DD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00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4A9C"/>
                </a:solidFill>
              </a:defRPr>
            </a:pPr>
            <a:r>
              <a:rPr sz="1425" b="1">
                <a:solidFill>
                  <a:srgbClr val="174A9C"/>
                </a:solidFill>
              </a:rPr>
              <a:t>Fixture sintetis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862B4A-A050-5F78-8B4F-D074BFF7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5"/>
                </a:solidFill>
              </a:defRPr>
            </a:pPr>
            <a:r>
              <a:rPr sz="1125">
                <a:solidFill>
                  <a:srgbClr val="172235"/>
                </a:solidFill>
              </a:rPr>
              <a:t>Data latihan buatan yang aman dan bukan data warga sekolah nyata.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FD5E3C-F21B-5C25-95D1-C3CED883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Siswa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732044-2A37-5839-B44D-759B18B1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008842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8D041C-A413-5F0D-BF77-4C55BC50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Mulai dari langkah kecil yang aman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EACC3-4844-5324-B856-E448709B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C9D5E3"/>
                </a:solidFill>
              </a:defRPr>
            </a:pPr>
            <a:r>
              <a:rPr sz="1650">
                <a:solidFill>
                  <a:srgbClr val="C9D5E3"/>
                </a:solidFill>
              </a:rPr>
              <a:t>DIIS paling mudah dipahami ketika langsung dicoba pada alur yang dekat dengan pekerjaan sehari-hari.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5BB71-6F4D-517D-98FC-66F96EAE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4933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5263E"/>
          </a:solidFill>
          <a:ln xmlns:a="http://schemas.openxmlformats.org/drawingml/2006/main" w="9525">
            <a:solidFill>
              <a:srgbClr val="36506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BC10C-8064-5153-9665-3820B116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9B1C7-16DE-5EC5-99B1-C8978ED9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3095B-351A-55EA-9C7C-F850A61E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Gunakan akun latihan dan data sintetis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6436A-756F-5212-B50A-B2BAACD8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52700"/>
            <a:ext cx="4933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5263E"/>
          </a:solidFill>
          <a:ln xmlns:a="http://schemas.openxmlformats.org/drawingml/2006/main" w="9525">
            <a:solidFill>
              <a:srgbClr val="36506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54D98-8DBF-5CF6-AE12-C0E9ABF2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622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FF8FB-9A44-5647-9A12-20A03570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38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16FDB-EB5B-5B61-8C7E-F50E2FEB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622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Pilih satu workflow sesuai peran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8EA64-BCBB-5AC3-A3B7-A39701FF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4933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5263E"/>
          </a:solidFill>
          <a:ln xmlns:a="http://schemas.openxmlformats.org/drawingml/2006/main" w="9525">
            <a:solidFill>
              <a:srgbClr val="3650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0CB2E-9FCB-56B2-A45C-6DBCB894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10CB53-4985-5A41-968E-71A4AF1C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24BD18-C8C9-59FD-B472-8704265F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481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Catat pertanyaan atau hambatan yang nyata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DE39F5-B5A0-51FE-844B-8B66B5AF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4933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5263E"/>
          </a:solidFill>
          <a:ln xmlns:a="http://schemas.openxmlformats.org/drawingml/2006/main" w="9525">
            <a:solidFill>
              <a:srgbClr val="36506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556306-3AA6-5F99-A523-3DB8E468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481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C1DD4E-2F78-5558-8741-6E86E23E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9124CB-07A5-58BD-BC9A-31C7B68B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481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Gunakan data nyata setelah readiness disetujui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97D017-D3C9-57C3-8D58-F5685129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0572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D271E"/>
          </a:solidFill>
          <a:ln xmlns:a="http://schemas.openxmlformats.org/drawingml/2006/main" w="9525">
            <a:solidFill>
              <a:srgbClr val="715E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6CEE0D-E1A4-5B4F-995D-7A22B007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482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6D794"/>
                </a:solidFill>
              </a:defRPr>
            </a:pPr>
            <a:r>
              <a:rPr sz="1050" b="1">
                <a:solidFill>
                  <a:srgbClr val="F6D794"/>
                </a:solidFill>
              </a:rPr>
              <a:t>Catatan go-live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1E9379-4008-568C-B623-1C4FECC5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435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3D4"/>
                </a:solidFill>
              </a:defRPr>
            </a:pPr>
            <a:r>
              <a:rPr sz="1200">
                <a:solidFill>
                  <a:srgbClr val="FFF3D4"/>
                </a:solidFill>
              </a:rPr>
              <a:t>Automation aktivasi Appointment harian di production belum aktif dan wajib diselesaikan sebelum penggunaan operasional penuh.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BA6C14-D725-5C68-BCE3-B036F804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Siswa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556447-F561-5C2A-9D21-A87F4E36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151442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2026-08-30T12:00:00Z</dcterms:created>
  <dcterms:modified xsi:type="dcterms:W3CDTF">2026-08-30T12:00:00Z</dcterms:modified>
</coreProperties>
</file>